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JetBrains Mono"/>
      <p:bold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linkedin.com/in/shubham-khatri-0a088328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hubham7khatri" TargetMode="External"/><Relationship Id="rId5" Type="http://schemas.openxmlformats.org/officeDocument/2006/relationships/hyperlink" Target="mailto:shubham7khatr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74827"/>
            <a:ext cx="109728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06922"/>
            <a:ext cx="2895600" cy="257175"/>
          </a:xfrm>
          <a:prstGeom prst="roundRect">
            <a:avLst>
              <a:gd name="adj" fmla="val 1481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574827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65340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4865340"/>
            <a:ext cx="16192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4865340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29269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Customer Shopping Behavior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22327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Uncovering customer profiles, purchasing patterns, and revenue drivers across 3,900 retail transactions to optimize subscription &amp; loyalty programs.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1864072"/>
            <a:ext cx="2724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END-TO-END DATA ANALYTICS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1849784"/>
            <a:ext cx="214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Python • MySQL •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851052"/>
            <a:ext cx="10293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Plus Jakarta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Shubham Khatri</a:t>
            </a:r>
            <a:endParaRPr sz="1200" b="1" i="0" u="none" dirty="0">
              <a:solidFill>
                <a:schemeClr val="accent1">
                  <a:lumMod val="20000"/>
                  <a:lumOff val="80000"/>
                </a:schemeClr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8900" y="4860577"/>
            <a:ext cx="107561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Plus Jakarta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sz="1125" b="0" i="0" u="none" dirty="0">
              <a:solidFill>
                <a:schemeClr val="accent1">
                  <a:lumMod val="20000"/>
                  <a:lumOff val="80000"/>
                </a:schemeClr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48175" y="4860577"/>
            <a:ext cx="90890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Plus Jakarta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Profile</a:t>
            </a:r>
            <a:endParaRPr sz="1125" b="0" i="0" u="none" dirty="0">
              <a:solidFill>
                <a:schemeClr val="accent1">
                  <a:lumMod val="20000"/>
                  <a:lumOff val="80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277350" y="742950"/>
            <a:ext cx="23050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2600325" cy="1266825"/>
          </a:xfrm>
          <a:prstGeom prst="roundRect">
            <a:avLst>
              <a:gd name="adj" fmla="val 30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1371600"/>
            <a:ext cx="2600325" cy="1266825"/>
          </a:xfrm>
          <a:prstGeom prst="roundRect">
            <a:avLst>
              <a:gd name="adj" fmla="val 30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371600"/>
            <a:ext cx="2600325" cy="1266825"/>
          </a:xfrm>
          <a:prstGeom prst="roundRect">
            <a:avLst>
              <a:gd name="adj" fmla="val 30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1371600"/>
            <a:ext cx="2600325" cy="1266825"/>
          </a:xfrm>
          <a:prstGeom prst="roundRect">
            <a:avLst>
              <a:gd name="adj" fmla="val 30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974306"/>
            <a:ext cx="5372100" cy="1433512"/>
          </a:xfrm>
          <a:prstGeom prst="roundRect">
            <a:avLst>
              <a:gd name="adj" fmla="val 5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0300" y="4081462"/>
            <a:ext cx="5372100" cy="12192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371600"/>
            <a:ext cx="38100" cy="1266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0425" y="1371600"/>
            <a:ext cx="38100" cy="1266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0" y="1371600"/>
            <a:ext cx="38100" cy="126682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82075" y="1371600"/>
            <a:ext cx="38100" cy="12668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305050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305050"/>
            <a:ext cx="1524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17193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4324350"/>
            <a:ext cx="2190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29750" y="8191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Dataset Size: 3,900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6631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696337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Scope &amp; Core Business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1562100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1752600"/>
            <a:ext cx="263128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$233K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2276475"/>
            <a:ext cx="2631281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3,900 Total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7125" y="1562100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AVG PURCHASE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7125" y="1752600"/>
            <a:ext cx="263128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$59.76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7125" y="2276475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Consistent spend across tiers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1562100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AVG REVIEW RATING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1752600"/>
            <a:ext cx="263128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3.75</a:t>
            </a:r>
            <a:r>
              <a:rPr sz="1650" b="1" i="0" u="none">
                <a:solidFill>
                  <a:srgbClr val="0F172A"/>
                </a:solidFill>
                <a:latin typeface="Plus Jakarta Sans"/>
              </a:rPr>
              <a:t>/5.0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7950" y="2276475"/>
            <a:ext cx="2631281" cy="1714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Moderate satisfaction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775" y="1562100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SUBSCRIPTION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8775" y="1752600"/>
            <a:ext cx="2631281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27%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8775" y="2276475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73% Unsubscribed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536281"/>
            <a:ext cx="50101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Understand demographic behavior, product preferences, and payment habits to drive targeted marketing, subscription growth, and loyalty retention strategies.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900" y="4643437"/>
            <a:ext cx="5010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18 raw attributes including demographics (Age, Gender, Location), item details, purchase history, shipping options, discounts, and ratings.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02906"/>
            <a:ext cx="200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Primary 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2275" y="4310062"/>
            <a:ext cx="218777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Core Dataset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5125"/>
            <a:ext cx="2386012" cy="2000250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1862" y="2819400"/>
            <a:ext cx="2386012" cy="217170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2819400"/>
            <a:ext cx="2386012" cy="217170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96387" y="2819400"/>
            <a:ext cx="2386012" cy="217170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905125"/>
            <a:ext cx="2386012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8200" y="4476750"/>
            <a:ext cx="1171575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1862" y="2819400"/>
            <a:ext cx="238601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00462" y="4562475"/>
            <a:ext cx="1085850" cy="2286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34125" y="2819400"/>
            <a:ext cx="238601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62725" y="4562475"/>
            <a:ext cx="126682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96387" y="2819400"/>
            <a:ext cx="2386012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24987" y="4562475"/>
            <a:ext cx="1219200" cy="228600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810000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10000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810000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462" y="3171825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300" y="3086100"/>
            <a:ext cx="18097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562" y="3086100"/>
            <a:ext cx="180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0" y="3086100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End-To-End Data Engineering &amp; Analytics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533775"/>
            <a:ext cx="25315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Raw Data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848100"/>
            <a:ext cx="2024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3,900 transactional records imported from CSV source file into Python environment.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14850"/>
            <a:ext cx="1114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Pandas &amp; NumPy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0462" y="3448050"/>
            <a:ext cx="25315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Python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0462" y="3762375"/>
            <a:ext cx="20240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Imputed ratings, standardized schema to snake_case, engineered age quartiles &amp; customer segments.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662" y="4600575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Plus Jakarta Sans"/>
              </a:rPr>
              <a:t>Data Wrangling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3448050"/>
            <a:ext cx="25315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MySQL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3762375"/>
            <a:ext cx="20240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Cleaned dataset loaded via SQLAlchemy engine. Executed 10 analytical business queries.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925" y="4600575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Relational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4987" y="3448050"/>
            <a:ext cx="106631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Power BI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4987" y="3762375"/>
            <a:ext cx="20240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Single-page executive dashboard built with dynamic KPI cards, drill-downs, and category breakdown.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1187" y="4600575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Plus Jakarta Sans"/>
              </a:rPr>
              <a:t>Visual Storytelling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205162"/>
            <a:ext cx="8191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0462" y="3119437"/>
            <a:ext cx="838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STAGE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725" y="3119437"/>
            <a:ext cx="838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STAGE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4987" y="3119437"/>
            <a:ext cx="847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Plus Jakarta Sans"/>
              </a:rPr>
              <a:t>STAGE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5372"/>
            <a:ext cx="6026794" cy="2723554"/>
          </a:xfrm>
          <a:prstGeom prst="roundRect">
            <a:avLst>
              <a:gd name="adj" fmla="val 279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1194" y="1908125"/>
            <a:ext cx="4641205" cy="1198066"/>
          </a:xfrm>
          <a:prstGeom prst="roundRect">
            <a:avLst>
              <a:gd name="adj" fmla="val 63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1194" y="3258591"/>
            <a:ext cx="4641205" cy="1198066"/>
          </a:xfrm>
          <a:prstGeom prst="roundRect">
            <a:avLst>
              <a:gd name="adj" fmla="val 63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1194" y="4609058"/>
            <a:ext cx="4641205" cy="1217116"/>
          </a:xfrm>
          <a:prstGeom prst="roundRect">
            <a:avLst>
              <a:gd name="adj" fmla="val 6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1194" y="1908125"/>
            <a:ext cx="38100" cy="119806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41194" y="3258591"/>
            <a:ext cx="38100" cy="119806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1194" y="4609058"/>
            <a:ext cx="38100" cy="12171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PREPARATION •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 Quality Auditing &amp; Cleaning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72122"/>
            <a:ext cx="69619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# 1. Impute missing ratings with Category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91197"/>
            <a:ext cx="5664844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cust_df[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"Review Rating"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] = cust_df.groupby(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"Category"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)[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"Review Rating"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] \</a:t>
            </a:r>
            <a:r>
              <a:t>
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   .transform(</a:t>
            </a:r>
            <a:r>
              <a:rPr sz="975" b="0" i="0" u="none">
                <a:solidFill>
                  <a:srgbClr val="90BE6D"/>
                </a:solidFill>
                <a:latin typeface="JetBrains Mono"/>
              </a:rPr>
              <a:t>lambda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 x: x.fillna(x.median()))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90069"/>
            <a:ext cx="69619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# 2. Standardize column names to snake_case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109144"/>
            <a:ext cx="5664844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cust_df.columns = cust_df.columns.str.lower().str.replace(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 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"_"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)</a:t>
            </a:r>
            <a:r>
              <a:t>
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 cust_df.rename(columns={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'purchase_amount_(usd)'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"purchase_amount"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608016"/>
            <a:ext cx="69619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# 3. Deduplicate redundant promo code column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827091"/>
            <a:ext cx="6961993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F8FAFC"/>
                </a:solidFill>
                <a:latin typeface="JetBrains Mono"/>
              </a:rPr>
              <a:t>cust_df.drop(</a:t>
            </a:r>
            <a:r>
              <a:rPr sz="975" b="0" i="0" u="none">
                <a:solidFill>
                  <a:srgbClr val="F3722C"/>
                </a:solidFill>
                <a:latin typeface="JetBrains Mono"/>
              </a:rPr>
              <a:t>"promo_code_used"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, axis=</a:t>
            </a:r>
            <a:r>
              <a:rPr sz="975" b="0" i="0" u="none">
                <a:solidFill>
                  <a:srgbClr val="F9C74F"/>
                </a:solidFill>
                <a:latin typeface="JetBrains Mono"/>
              </a:rPr>
              <a:t>1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, inplace=</a:t>
            </a:r>
            <a:r>
              <a:rPr sz="975" b="0" i="0" u="none">
                <a:solidFill>
                  <a:srgbClr val="F9C74F"/>
                </a:solidFill>
                <a:latin typeface="JetBrains Mono"/>
              </a:rPr>
              <a:t>True</a:t>
            </a:r>
            <a:r>
              <a:rPr sz="975" b="0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733972"/>
            <a:ext cx="228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customer_analytics.ipynb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4369" y="2738735"/>
            <a:ext cx="1019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Python 3.10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9794" y="2098625"/>
            <a:ext cx="50222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Domain-Aware Median Imputation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9794" y="2355800"/>
            <a:ext cx="431735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37 missing review ratings imputed using category medians rather than global averages to preserve category-specific satisfaction baselines.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9794" y="3449091"/>
            <a:ext cx="50222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Database-Ready Schema Standardization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9794" y="3706266"/>
            <a:ext cx="431735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Converted 18 raw columns to uniform lowercase snake_case formatting for seamless compatibility across MySQL and Power BI layers.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9794" y="4799558"/>
            <a:ext cx="50222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Redundancy Elimination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9794" y="5056733"/>
            <a:ext cx="431735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Identified 100% correlation between discount_applied and promo_code_used, dropping duplicate column to prevent data bloat.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32757"/>
            <a:ext cx="3505200" cy="1935360"/>
          </a:xfrm>
          <a:prstGeom prst="roundRect">
            <a:avLst>
              <a:gd name="adj" fmla="val 39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61319"/>
            <a:ext cx="3505200" cy="2078235"/>
          </a:xfrm>
          <a:prstGeom prst="roundRect">
            <a:avLst>
              <a:gd name="adj" fmla="val 3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08957"/>
            <a:ext cx="3505200" cy="1782960"/>
          </a:xfrm>
          <a:prstGeom prst="roundRect">
            <a:avLst>
              <a:gd name="adj" fmla="val 42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58425" y="6019800"/>
            <a:ext cx="1085850" cy="21907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677542"/>
            <a:ext cx="3028950" cy="55245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81525" y="3596580"/>
            <a:ext cx="3028950" cy="7048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15325" y="3753742"/>
            <a:ext cx="30289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6072187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85169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2713732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2861369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FEATURE ENGINEERING •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Transforming Raw Data into Business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6043612"/>
            <a:ext cx="6631781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Exported clean 3,900 x 20 dataset to MySQL table 'shop' via SQLAlchemy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2725" y="6057900"/>
            <a:ext cx="952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Zero Null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142357"/>
            <a:ext cx="3124200" cy="382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Divided ages (18-70) into 4 equal-sized demographic quartiles using pd.qcut.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791842"/>
            <a:ext cx="2895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Quartiles: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Young Adult, Adult, Middle-Aged, Senior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070919"/>
            <a:ext cx="31242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Converted string frequency terms into numeric day intervals for statistical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5825" y="3710880"/>
            <a:ext cx="2895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Mapping: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Weekly $\rightarrow$ 7, Fortnightly $\rightarrow$ 14, Monthly $\rightarrow$ 30, Quarterly $\rightarrow$ 90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218557"/>
            <a:ext cx="3124200" cy="382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Categorized customers by purchase history tiers using pd.cut thresholds.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9625" y="3868042"/>
            <a:ext cx="2895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Tiers: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New (0-1), Returning (2-5), Loyal (6+)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1100" y="2770882"/>
            <a:ext cx="2250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Age Group Quartiles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8225" y="2699444"/>
            <a:ext cx="2200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Frequency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9650" y="2847082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Customer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43112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043112"/>
            <a:ext cx="28575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95587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95587"/>
            <a:ext cx="28575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548062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548062"/>
            <a:ext cx="28575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300537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300537"/>
            <a:ext cx="28575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5053012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5053012"/>
            <a:ext cx="28575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0300" y="2043112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2043112"/>
            <a:ext cx="28575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0300" y="2795587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2795587"/>
            <a:ext cx="28575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0300" y="3548062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0300" y="3548062"/>
            <a:ext cx="28575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0300" y="4300537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300537"/>
            <a:ext cx="28575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0300" y="5053012"/>
            <a:ext cx="5372100" cy="638175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0300" y="5053012"/>
            <a:ext cx="28575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BUSINESS ANALYTICS • 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Solving 10 Key Business Questions in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2176462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Q1. Gender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2928937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Q2. High-Value Discount Buyers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3681412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Q3. Top Rated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433887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Q4. Shipping Type Spend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5186362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Q5. Subscriber Spend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76462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Q6. Highest Discounted 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28937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Q7. Segment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81412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Q8. Top 3 Items per 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3887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Q9. Repeat Buyer Subscription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86362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Q10. Revenue by Age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2376487"/>
            <a:ext cx="6203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Male revenue $157.89K (68%) vs Female $75.19K (32%).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3128962"/>
            <a:ext cx="6203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Filtered buyers using discounts with spend $\ge$ $59.76 average.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75" y="3881437"/>
            <a:ext cx="6203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Gloves (3.86) &amp; Sandals (3.84) lead product ratings.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75" y="4633912"/>
            <a:ext cx="6203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Express shipping ($60.48) slightly outperforms Standard ($58.46).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5386387"/>
            <a:ext cx="6203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Subscribers spend $59.49 vs Non-subscribers $59.87 (similar order value).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9375" y="2376487"/>
            <a:ext cx="576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Hats (50.0%) and Sneakers (49.66%) rely heavily on discounts.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9375" y="3128962"/>
            <a:ext cx="576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Loyal (3,116), Returning (701), and New (83) customers.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9375" y="3881437"/>
            <a:ext cx="576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Ranked items within categories using SQL Window Functions.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9375" y="4633912"/>
            <a:ext cx="576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2,518 repeat buyers (&gt;5 orders) remain unsubscribed.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9375" y="5386387"/>
            <a:ext cx="5762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Young Adults lead revenue ($62.14K), followed by Middle-Aged ($59.20K).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889105" y="2328862"/>
            <a:ext cx="4693294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89105" y="3405187"/>
            <a:ext cx="4693294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89105" y="4481512"/>
            <a:ext cx="4693294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82751" y="4033837"/>
            <a:ext cx="2768351" cy="733425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BUSINESS INTELLIGENCE •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One-Page Interactive Dashboard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424" y="3062287"/>
            <a:ext cx="684925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Customer Behavior Dashboard (Header Bar)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0555" y="2500312"/>
            <a:ext cx="513144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Executive KPI Header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0555" y="2738437"/>
            <a:ext cx="44456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Instant high-level visibility across revenue, customer volume, average spend, and historical purchase totals (98.87K items).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0555" y="3576637"/>
            <a:ext cx="513144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Subscription &amp; Demographic Slicers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0555" y="3814762"/>
            <a:ext cx="44456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Interactive filtering by subscription status (27% vs 73%), gender split, and 4 age quartiles for deep demographic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0555" y="4652962"/>
            <a:ext cx="513144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Category Performance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555" y="4891087"/>
            <a:ext cx="44456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Visual ranking highlighting Clothing as the primary revenue engine ($104.26K) versus Outerwear ($18.52K).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034873-A11E-A6A9-4808-6A0CE8147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32" y="2035896"/>
            <a:ext cx="6413665" cy="3557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38775"/>
            <a:ext cx="10972800" cy="962025"/>
          </a:xfrm>
          <a:prstGeom prst="roundRect">
            <a:avLst>
              <a:gd name="adj" fmla="val 792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34666"/>
            <a:ext cx="3505200" cy="1912441"/>
          </a:xfrm>
          <a:prstGeom prst="roundRect">
            <a:avLst>
              <a:gd name="adj" fmla="val 39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334666"/>
            <a:ext cx="3505200" cy="1912441"/>
          </a:xfrm>
          <a:prstGeom prst="roundRect">
            <a:avLst>
              <a:gd name="adj" fmla="val 39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334666"/>
            <a:ext cx="3505200" cy="1912441"/>
          </a:xfrm>
          <a:prstGeom prst="roundRect">
            <a:avLst>
              <a:gd name="adj" fmla="val 39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334666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2334666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77200" y="2334666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2610891"/>
            <a:ext cx="914400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38925" y="2610891"/>
            <a:ext cx="981075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372725" y="2610891"/>
            <a:ext cx="981075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786437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CUSTOMER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Customer Segmentation &amp; Subscription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53791"/>
            <a:ext cx="381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3,116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458616"/>
            <a:ext cx="31432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Represents 79.9% of total customer base. Strong retention backbone with high repeat transaction potential.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53791"/>
            <a:ext cx="381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701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58616"/>
            <a:ext cx="31432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Represents 18.0% of customers. Critical target segment for re-engagement and loyalty program onboarding.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2953791"/>
            <a:ext cx="381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458616"/>
            <a:ext cx="31432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Represents 2.1% of base. Requires immediate follow-up incentives to convert into repeat buyers.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925" y="5638800"/>
            <a:ext cx="10887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Plus Jakarta Sans"/>
              </a:rPr>
              <a:t>The Subscription Conversion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5857875"/>
            <a:ext cx="10134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Plus Jakarta Sans"/>
              </a:rPr>
              <a:t>Out of 3,476 repeat buyers (&gt;5 orders), </a:t>
            </a:r>
            <a:r>
              <a:rPr sz="1050" b="1" i="0" u="none">
                <a:solidFill>
                  <a:srgbClr val="7F1D1D"/>
                </a:solidFill>
                <a:latin typeface="Plus Jakarta Sans"/>
              </a:rPr>
              <a:t>2,518 (72.4%) do NOT have an active subscription</a:t>
            </a:r>
            <a:r>
              <a:rPr sz="1050" b="0" i="0" u="none">
                <a:solidFill>
                  <a:srgbClr val="7F1D1D"/>
                </a:solidFill>
                <a:latin typeface="Plus Jakarta Sans"/>
              </a:rPr>
              <a:t>. Average spend is virtually identical ($59.49 vs $59.87), proving subscribers aren't currently incentivized with exclusive discounts.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01366"/>
            <a:ext cx="122015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Loyal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7050" y="2648991"/>
            <a:ext cx="819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6+ Purchases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601366"/>
            <a:ext cx="16502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Returning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4175" y="2648991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2-5 Purchases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2601366"/>
            <a:ext cx="114014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New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7975" y="2648991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0-1 Purchases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3187"/>
            <a:ext cx="6035426" cy="2447925"/>
          </a:xfrm>
          <a:prstGeom prst="roundRect">
            <a:avLst>
              <a:gd name="adj" fmla="val 31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9826" y="2724150"/>
            <a:ext cx="4632573" cy="1152525"/>
          </a:xfrm>
          <a:prstGeom prst="roundRect">
            <a:avLst>
              <a:gd name="adj" fmla="val 66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826" y="4029075"/>
            <a:ext cx="4632573" cy="981075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424237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862387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4300537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4738687"/>
            <a:ext cx="5559176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3424237"/>
            <a:ext cx="5559176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7725" y="3862387"/>
            <a:ext cx="3946921" cy="114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7725" y="4300537"/>
            <a:ext cx="1945630" cy="114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4738687"/>
            <a:ext cx="1000571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326" y="4233862"/>
            <a:ext cx="21907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REVENUE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Category &amp; Demographic Revenue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881312"/>
            <a:ext cx="72964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Revenue Distribution by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0326" y="3171825"/>
            <a:ext cx="434682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Male customers generate $157.89K (68%) vs Female $75.19K (32%). Represents an untapped growth market for female apparel targeting.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0326" y="4476750"/>
            <a:ext cx="434682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All 6 shipping options capture equal market share (16%–17.5%), led slightly by Free Shipping at 17.49%.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233737"/>
            <a:ext cx="1571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Clothing (1,737 sales)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576" y="3233737"/>
            <a:ext cx="1362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$104.26K (44.7%)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671887"/>
            <a:ext cx="1028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Accessories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6301" y="3671887"/>
            <a:ext cx="12763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$74.20K (31.8%)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110037"/>
            <a:ext cx="866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Footwear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5826" y="4110037"/>
            <a:ext cx="1266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$36.01K (15.5%)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548187"/>
            <a:ext cx="9429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Outerwear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3451" y="4548187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$18.52K (8.0%)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5576" y="2914650"/>
            <a:ext cx="17877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Gender Imbalance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4651" y="4219575"/>
            <a:ext cx="293786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Balanced Shipping Preference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76673"/>
            <a:ext cx="2600325" cy="2419052"/>
          </a:xfrm>
          <a:prstGeom prst="roundRect">
            <a:avLst>
              <a:gd name="adj" fmla="val 31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769989"/>
            <a:ext cx="2600325" cy="2232421"/>
          </a:xfrm>
          <a:prstGeom prst="roundRect">
            <a:avLst>
              <a:gd name="adj" fmla="val 34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676673"/>
            <a:ext cx="2600325" cy="2419052"/>
          </a:xfrm>
          <a:prstGeom prst="roundRect">
            <a:avLst>
              <a:gd name="adj" fmla="val 31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769989"/>
            <a:ext cx="2600325" cy="2232421"/>
          </a:xfrm>
          <a:prstGeom prst="roundRect">
            <a:avLst>
              <a:gd name="adj" fmla="val 34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8200" y="294337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76673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29025" y="3036689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0425" y="2769989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19850" y="294337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0" y="2676673"/>
            <a:ext cx="2600325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10675" y="3036689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82075" y="2769989"/>
            <a:ext cx="260032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STRATEGIC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Data-Driven Business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943373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438673"/>
            <a:ext cx="235029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Convert Repeat Unsubscribed Buyers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933973"/>
            <a:ext cx="2238375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Target the 2,518 repeat buyers with exclusive subscriber-only perks (free shipping or 5% recurring discounts) to boost retention.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6150" y="3036689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9025" y="3531989"/>
            <a:ext cx="235029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Expand Female Segment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9025" y="4027289"/>
            <a:ext cx="223837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Launch targeted marketing for female categories (Accessories &amp; Blouses) to balance the current 68% male revenue concentration.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975" y="2943373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850" y="3438673"/>
            <a:ext cx="235029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Product Bundling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3933973"/>
            <a:ext cx="2238375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Bundle lower-performing Outerwear ($18.52K) and Footwear ($36.01K) with best-selling Clothing items during seasonal checkouts.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3036689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59669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0675" y="3531989"/>
            <a:ext cx="235029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Incentivize 2nd Purchase for New 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675" y="4027289"/>
            <a:ext cx="223837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Send automated post-purchase coupon codes within 14 days to transition 83 New buyers into Returning customer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88953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87000" y="1911846"/>
            <a:ext cx="12954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911971"/>
            <a:ext cx="2600325" cy="1195982"/>
          </a:xfrm>
          <a:prstGeom prst="roundRect">
            <a:avLst>
              <a:gd name="adj" fmla="val 63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0425" y="2911971"/>
            <a:ext cx="2600325" cy="1195982"/>
          </a:xfrm>
          <a:prstGeom prst="roundRect">
            <a:avLst>
              <a:gd name="adj" fmla="val 63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911971"/>
            <a:ext cx="2600325" cy="1195982"/>
          </a:xfrm>
          <a:prstGeom prst="roundRect">
            <a:avLst>
              <a:gd name="adj" fmla="val 63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82075" y="2911971"/>
            <a:ext cx="2600325" cy="1195982"/>
          </a:xfrm>
          <a:prstGeom prst="roundRect">
            <a:avLst>
              <a:gd name="adj" fmla="val 63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488953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107233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3107233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10723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75" y="3107233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0" y="4779466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7975" y="4779466"/>
            <a:ext cx="11430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400" y="1988046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Shubham Khatri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727078"/>
            <a:ext cx="4226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Thank You for Your Time &amp; Consideration!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911846"/>
            <a:ext cx="752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PROJECT PORTFOLIO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140446"/>
            <a:ext cx="79009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Skills Matrix &amp; Technical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397746"/>
            <a:ext cx="231457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Pandas, NumPy, Median Imputation, qcut/cut Binning, Feature Mapping, SQLAlchemy.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925" y="3397746"/>
            <a:ext cx="231457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Subqueries, Aggregations, CASE Statements, CTEs, Window Functions (ROW_NUMBER).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3397746"/>
            <a:ext cx="23145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KPI Card Design, Interactive Visuals, Data Storytelling, Filter Contexts.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2575" y="3397746"/>
            <a:ext cx="231457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Customer Segmentation, Revenue Modeling, Retention Strategy, Actionable Recommendations.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4750891"/>
            <a:ext cx="1654968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 GitHub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7975" y="4750891"/>
            <a:ext cx="1400175" cy="1714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 LinkedIn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3102471"/>
            <a:ext cx="18502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Python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7625" y="3102471"/>
            <a:ext cx="16252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MySQL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3102471"/>
            <a:ext cx="5714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0700" y="3102471"/>
            <a:ext cx="16752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Business Acumen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1241</Words>
  <Application>Microsoft Office PowerPoint</Application>
  <PresentationFormat>Widescreen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Plus Jakarta Sans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Khatri</cp:lastModifiedBy>
  <cp:revision>4</cp:revision>
  <dcterms:created xsi:type="dcterms:W3CDTF">2013-01-27T09:14:16Z</dcterms:created>
  <dcterms:modified xsi:type="dcterms:W3CDTF">2026-10-02T09:48:28Z</dcterms:modified>
  <cp:category/>
</cp:coreProperties>
</file>